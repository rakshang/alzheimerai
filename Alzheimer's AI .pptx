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3" r:id="rId6"/>
    <p:sldId id="261" r:id="rId7"/>
    <p:sldId id="264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0"/>
    <p:restoredTop sz="94659"/>
  </p:normalViewPr>
  <p:slideViewPr>
    <p:cSldViewPr snapToGrid="0">
      <p:cViewPr>
        <p:scale>
          <a:sx n="140" d="100"/>
          <a:sy n="140" d="100"/>
        </p:scale>
        <p:origin x="15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C4734-B76A-DC40-8F6C-BB8BAB92A86F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9F154-C996-C045-A79D-3B1668FBC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8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9F154-C996-C045-A79D-3B1668FBC3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3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50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1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4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9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9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4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1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7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54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91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67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8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0" name="Picture 19" descr="Abstract picture of the brain made up of patterns">
            <a:extLst>
              <a:ext uri="{FF2B5EF4-FFF2-40B4-BE49-F238E27FC236}">
                <a16:creationId xmlns:a16="http://schemas.microsoft.com/office/drawing/2014/main" id="{B21F63A0-896B-D818-128A-ABA85BED75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10" r="9091" b="20248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90D09-0EF6-DC32-CACC-D4F1853AB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09" y="978408"/>
            <a:ext cx="11857594" cy="3217766"/>
          </a:xfrm>
        </p:spPr>
        <p:txBody>
          <a:bodyPr anchor="t">
            <a:normAutofit/>
          </a:bodyPr>
          <a:lstStyle/>
          <a:p>
            <a:r>
              <a:rPr lang="en-US" sz="6600" b="1" dirty="0">
                <a:latin typeface="Segoe UI" panose="020B0502040204020203" pitchFamily="34" charset="0"/>
                <a:cs typeface="Segoe UI" panose="020B0502040204020203" pitchFamily="34" charset="0"/>
              </a:rPr>
              <a:t>Alzheimer’s </a:t>
            </a:r>
            <a:r>
              <a:rPr lang="en-US" sz="6600" dirty="0">
                <a:latin typeface="Segoe UI" panose="020B0502040204020203" pitchFamily="34" charset="0"/>
                <a:cs typeface="Segoe UI" panose="020B0502040204020203" pitchFamily="34" charset="0"/>
              </a:rPr>
              <a:t>AI</a:t>
            </a:r>
            <a:br>
              <a:rPr lang="en-US" sz="6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100" dirty="0">
                <a:latin typeface="Segoe UI" panose="020B0502040204020203" pitchFamily="34" charset="0"/>
                <a:cs typeface="Segoe UI" panose="020B0502040204020203" pitchFamily="34" charset="0"/>
              </a:rPr>
              <a:t>DUAL AI Model Platform – 2D Slice and 3D Volumetric MRI Analysis </a:t>
            </a:r>
            <a:br>
              <a:rPr lang="en-US" sz="6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6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6600" b="1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54A0E-E5CF-0EE1-72E3-EDAEBE143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09" y="5485077"/>
            <a:ext cx="4381634" cy="789030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100" b="1" i="0" dirty="0">
                <a:latin typeface="Segoe UI" panose="020B0502040204020203" pitchFamily="34" charset="0"/>
                <a:cs typeface="Segoe UI" panose="020B0502040204020203" pitchFamily="34" charset="0"/>
              </a:rPr>
              <a:t>Rakshan</a:t>
            </a:r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b="1" i="0" dirty="0">
                <a:latin typeface="Segoe UI" panose="020B0502040204020203" pitchFamily="34" charset="0"/>
                <a:cs typeface="Segoe UI" panose="020B0502040204020203" pitchFamily="34" charset="0"/>
              </a:rPr>
              <a:t>Gade</a:t>
            </a:r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100" b="1" i="0" dirty="0">
                <a:latin typeface="Segoe UI" panose="020B0502040204020203" pitchFamily="34" charset="0"/>
                <a:cs typeface="Segoe UI" panose="020B0502040204020203" pitchFamily="34" charset="0"/>
              </a:rPr>
              <a:t>| Student ID  02201084</a:t>
            </a:r>
            <a:br>
              <a:rPr lang="en-US" sz="1100" b="1" i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100" b="1" i="0" dirty="0">
                <a:latin typeface="Segoe UI" panose="020B0502040204020203" pitchFamily="34" charset="0"/>
                <a:cs typeface="Segoe UI" panose="020B0502040204020203" pitchFamily="34" charset="0"/>
              </a:rPr>
              <a:t>DSC 550, Spring 2026</a:t>
            </a:r>
            <a:b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100" b="1" i="0" dirty="0">
                <a:latin typeface="Segoe UI" panose="020B0502040204020203" pitchFamily="34" charset="0"/>
                <a:cs typeface="Segoe UI" panose="020B0502040204020203" pitchFamily="34" charset="0"/>
              </a:rPr>
              <a:t>Advisor: Dr. Donghui Yan | UMass Dartmouth </a:t>
            </a:r>
            <a:br>
              <a:rPr lang="en-US" sz="1100" b="1" i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100" b="1" i="0" dirty="0">
                <a:latin typeface="Segoe UI" panose="020B0502040204020203" pitchFamily="34" charset="0"/>
                <a:cs typeface="Segoe UI" panose="020B0502040204020203" pitchFamily="34" charset="0"/>
              </a:rPr>
              <a:t>Department of Data Science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6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D3A8B-2827-A1C2-79F2-E16B002C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EAE7-C81F-110C-483C-5A786D0F1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36" y="2112264"/>
            <a:ext cx="11155680" cy="376732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55 Million+ suffer from dementia globally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10 Million new cases are identified every year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70% of dementia sufferers have Alzheimer’s disease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75% of patients go undiagnosed in low-income countries </a:t>
            </a:r>
          </a:p>
          <a:p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problem : </a:t>
            </a:r>
            <a:b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Early diagnosis depends on manual MRI analysis images which are time consuming, expensive and specialist-dependent, Alzheimer AI automates this using deep learning on both 2D MRI slices and full 3D volumetric scans, enabling faster and more accessible screening.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1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D725-69A8-9901-C046-1348D65C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5DD8E-9D6D-136D-B368-9276DDB8C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Develop a deep learning architecture that is able to detect Alzheimer's disease using MRI images.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Implement dual model support like EfficientNet-B3 for 2D and ResNet3D-18 for 3D scans.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Develop an end-to-end clinical web application with multi-level access to both doctors and patients.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Generate explainable AI results such as Grad-CAM for 2D scans and anatomical slices for 3D scans.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Implement uncertainty flagging to ensure the safety of the results for low confidence cases.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Provide personalized clinical recommendations according to the diagnosis and role of the users.  </a:t>
            </a:r>
          </a:p>
        </p:txBody>
      </p:sp>
    </p:spTree>
    <p:extLst>
      <p:ext uri="{BB962C8B-B14F-4D97-AF65-F5344CB8AC3E}">
        <p14:creationId xmlns:p14="http://schemas.microsoft.com/office/powerpoint/2010/main" val="687986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0EBA-1A0D-6BA5-E70A-83B740B4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D2211-E66C-6305-EFE2-11F32BD6D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93392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Four Layers :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Frontend Layer : HTML, CSS, JS, toggle switch for the kind of scanning done like 2D or 3D, uploading the files, displaying the results, doctor’s dashboard, patient’s records.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Backend Layer : JwT authentication, predict endpoint with auto-routing, Grad-CAM generation, patient and scan management endpoints.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AI Model Layer : EfficientNet-B3(2D Model), ResNet3D-18(3D Model), Focal Loss training, Grad-CAM and 3D slice activation maps.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Database Layer : Users and roles table, scans and prediction table, probability scores, model type tracking.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419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9BF8-6E5F-217E-E5B0-4672E8A9C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F5BDC-54F8-473D-B5B3-2B29E632F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709928"/>
            <a:ext cx="11155680" cy="4713174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OASIS – 1 (2D Model) :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Format : JPG/PNG 2D MRI slices.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Classes : Non Dementia, Very Mild Dementia, Mild Dementia.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Split : 70% train / 15% val / 15% test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Source : Kaggle OASIS dataset</a:t>
            </a:r>
          </a:p>
          <a:p>
            <a:pPr marL="0" indent="0"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Neurite OASIS (3D Model) :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414 subjects with full brain MRI volumes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Format : .nii.gz (160x192x224 voxels, preprocessed)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Labels derived from Clinical Dementia Rating scores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Class distribution: Non Demented, Very Mild Demented, Mild Demented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Split : 70% train / 15% val / 15% test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Zero subject overlap verified across all splits </a:t>
            </a:r>
          </a:p>
          <a:p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13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3239-12A0-B7BE-AEB5-4C63D15D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Model – EfficientNet-B3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495BB-54B9-25CA-482D-4DEBD4A30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53779"/>
            <a:ext cx="11155680" cy="4669684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Architecture</a:t>
            </a:r>
            <a:r>
              <a:rPr lang="en-US" sz="1600" b="1" dirty="0"/>
              <a:t> :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EfficientNet-B3 is the backbone with pretrained ImageNet weights.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Custom classifier head : Dropout(0.4) → Linear(256) → ReLU → Dropout(0.3) → Linear(3).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Input : 224 x 224 RGB MRI slice.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Output : 3 classes –  Non Demented, Very Mild Demented, Mild Demented.</a:t>
            </a:r>
          </a:p>
          <a:p>
            <a:pPr marL="0" indent="0">
              <a:buNone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Training Details :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Dataset : OASIS-1 (Kaggle 2D MRI slices)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Loss : CrossEntropy with Label Smoothing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Optimizer: AdamW, LR = 1e-4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Explainability : Grad-CAM heatmap overlay on predicted class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Final Accuracy: 97.7%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457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66B84-F907-2CD5-A9D2-02827C4B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 dirty="0"/>
              <a:t>2D Model Results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CDF30-025F-C010-AF74-7B5260AA8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1874018"/>
            <a:ext cx="6281928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Key metrics: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Test Accuracy: 97.7%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Model : EfficientNet-B3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Classes : 3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Grad-CAM : Visual explanation generated for every prediction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CD54C-6B3F-AA8E-00FD-A609F224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247" y="1709928"/>
            <a:ext cx="4356461" cy="324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8CCC-6CE4-8197-9E32-A9C7D105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3D Model – ResNet3D-18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86DE-5FE5-113C-68E5-9A5DF8049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17649"/>
            <a:ext cx="11155680" cy="47950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Architecture :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Custom ResNet3D-18 built from scratch with no pretrained weights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Stem : Conv3D 7x7(Stride 2) + Conv3D 3x3(stride 2)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4 residual layers [2,2,2,2] with ResBlock3D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Strided Conv3D replaces MaxPool3D to fix the MPS compatibility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AdaptiveAvgPool3D → Dropout(0.5) → Fully Connected (3 classes)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Input: 96x96x96 single-channel NIFTI volume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Trainable parameters : 18.7 million</a:t>
            </a:r>
          </a:p>
          <a:p>
            <a:pPr marL="0" indent="0">
              <a:buNone/>
            </a:pP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Training Details :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Dataset : Neurite-OASIS (414 subjects, .nii.gz format)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Labels : CDR score mapped to 3 classes (0.0 → Non Dementia, 0.5 → Very Mild Dementia, 1.0+ → Mild Dementia)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Loss : Focal Loss (</a:t>
            </a:r>
            <a:r>
              <a:rPr lang="el-GR" sz="1400" dirty="0">
                <a:latin typeface="Segoe UI" panose="020B0502040204020203" pitchFamily="34" charset="0"/>
                <a:cs typeface="Segoe UI" panose="020B0502040204020203" pitchFamily="34" charset="0"/>
              </a:rPr>
              <a:t>γ=2.0)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to address class imbalance 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Optimizer : AdamW, LR = 3e-5</a:t>
            </a: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Sampler: WeightedRandomSampler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3892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D8CE9-BE70-1111-64B3-71E627B2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095744" cy="1463040"/>
          </a:xfrm>
        </p:spPr>
        <p:txBody>
          <a:bodyPr>
            <a:normAutofit/>
          </a:bodyPr>
          <a:lstStyle/>
          <a:p>
            <a:r>
              <a:rPr lang="en-US" dirty="0"/>
              <a:t>3D Model Results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DBC276-C97C-633B-BC23-257D2CCA3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709574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021A97-E612-C725-97C4-8B55AEB83C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21906"/>
          <a:stretch>
            <a:fillRect/>
          </a:stretch>
        </p:blipFill>
        <p:spPr>
          <a:xfrm>
            <a:off x="8783540" y="680737"/>
            <a:ext cx="2729865" cy="18280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E979D-D7BD-D229-1D79-C9F66CE6D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1874018"/>
            <a:ext cx="7095744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latin typeface="Segoe UI" panose="020B0502040204020203" pitchFamily="34" charset="0"/>
                <a:cs typeface="Segoe UI" panose="020B0502040204020203" pitchFamily="34" charset="0"/>
              </a:rPr>
              <a:t>Key metric :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Test accuracy : 71.43% 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Model - ResNet3D-18 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Confidence Interval lies between 60.3 % - 82.6%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Macro F1 score across all 3 classes averaged at 0.522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F1 score weighted by class support would be at 0.752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Cohen’s kappa measures at 0.402 between predictions and true labels 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ROC-AUC Area under the ROC curve averaged across all 3 classes at 0.742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Mean Prediction Confidence Average softmax probability of the predicted class across all test scans at 69.8%</a:t>
            </a:r>
          </a:p>
          <a:p>
            <a:pPr>
              <a:lnSpc>
                <a:spcPct val="100000"/>
              </a:lnSpc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</a:rPr>
              <a:t>Uncertain predictions flagged percentage of test predictions where model confidence fell at 57.1% </a:t>
            </a:r>
          </a:p>
          <a:p>
            <a:pPr>
              <a:lnSpc>
                <a:spcPct val="100000"/>
              </a:lnSpc>
            </a:pP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9420B0-BFA9-D6F8-68A0-E8EB06DFF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737" y="2764266"/>
            <a:ext cx="3059472" cy="1698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E66900-3BA1-B1EF-909A-D4B211C35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047" y="5026848"/>
            <a:ext cx="3059472" cy="81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18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A63B41-15A9-1E3C-2034-7B248F74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1463040"/>
          </a:xfrm>
        </p:spPr>
        <p:txBody>
          <a:bodyPr>
            <a:normAutofit/>
          </a:bodyPr>
          <a:lstStyle/>
          <a:p>
            <a:r>
              <a:rPr lang="en-US" dirty="0"/>
              <a:t>Login &amp; Register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ABDCC-A93E-180E-9BA8-EAE8B19D8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626" y="2001516"/>
            <a:ext cx="5422845" cy="434839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JwT- based authentication with role separation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Two user roles : Doctor and Patient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Doctors can register and access all patient scans and the dashboard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Patients can register and only see their own scan history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Passwords stored securely with hashing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Token stored in local storage and sent with every API request </a:t>
            </a: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C9A55-8F20-5805-FEF6-93DE9AFE7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4" r="2961" b="-3"/>
          <a:stretch>
            <a:fillRect/>
          </a:stretch>
        </p:blipFill>
        <p:spPr>
          <a:xfrm>
            <a:off x="6303731" y="3684106"/>
            <a:ext cx="5122753" cy="2783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BA8DC0-9CF7-568B-ED3D-B19890FC99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14" r="-3" b="-3"/>
          <a:stretch>
            <a:fillRect/>
          </a:stretch>
        </p:blipFill>
        <p:spPr>
          <a:xfrm>
            <a:off x="6301520" y="649221"/>
            <a:ext cx="5122753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CF5FD-7AEF-3FFC-E2F6-5DD7F92B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1463040"/>
          </a:xfrm>
        </p:spPr>
        <p:txBody>
          <a:bodyPr>
            <a:normAutofit/>
          </a:bodyPr>
          <a:lstStyle/>
          <a:p>
            <a:r>
              <a:rPr lang="en-US" dirty="0"/>
              <a:t>2D Scan Analysis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65294-095B-9DB2-39A8-1DCE34ED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997" y="2013711"/>
            <a:ext cx="5369274" cy="418691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Users select 2D slice mode and uploads a JPG or PNG MRI scan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EfficientNet-B3 runs inference and runs prediction in seconds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Results :  Risk level badge, confidence score, probability breakdown bars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Grad CAM heatmap displayed side by side with original scan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Clinical recommendation shown respectively for doctors and patients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Uncertainty warning displayed if confidence is below 70%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ADF89-A2D6-E7D6-4F27-5B36A5552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9" r="1299" b="-1"/>
          <a:stretch>
            <a:fillRect/>
          </a:stretch>
        </p:blipFill>
        <p:spPr>
          <a:xfrm>
            <a:off x="6303730" y="3755695"/>
            <a:ext cx="5122753" cy="2783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9AD925-10FE-6304-6D0A-318DBA90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0" r="4922" b="3"/>
          <a:stretch>
            <a:fillRect/>
          </a:stretch>
        </p:blipFill>
        <p:spPr>
          <a:xfrm>
            <a:off x="6303730" y="657369"/>
            <a:ext cx="5122753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30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56F86-9331-6D9F-F0EF-9A98D872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021832" cy="1463040"/>
          </a:xfrm>
        </p:spPr>
        <p:txBody>
          <a:bodyPr>
            <a:normAutofit/>
          </a:bodyPr>
          <a:lstStyle/>
          <a:p>
            <a:r>
              <a:rPr lang="en-US" dirty="0"/>
              <a:t>3D Volume Analysis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4DE34-052F-28C9-A2A5-93EA8DFB3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330" y="1928385"/>
            <a:ext cx="5367062" cy="3767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User selects 3D volume mode and uploads a .nii.gz volumetric MRI file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ResNet3D-18 processes full 3D volume resized to 96 x 96x 96 voxels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Three anatomical view are Axial, Sagittal and Coronal each with Grad-CAM overlay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Same risk level, confidence and recommendation system as the 2D model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Model badge clearly identifies ResNet3D-18 as the model used for analysis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Grad-CAM section hidden for 3D which is replaced with anatomical slice viewer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9A5F3-9413-CC76-66AC-0B28E0ECE9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8" r="3829" b="-1"/>
          <a:stretch>
            <a:fillRect/>
          </a:stretch>
        </p:blipFill>
        <p:spPr>
          <a:xfrm>
            <a:off x="6303731" y="3738970"/>
            <a:ext cx="5122753" cy="2783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71F478-78AF-A698-363A-824E78BE9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80" r="11779" b="-2"/>
          <a:stretch>
            <a:fillRect/>
          </a:stretch>
        </p:blipFill>
        <p:spPr>
          <a:xfrm>
            <a:off x="6303731" y="657369"/>
            <a:ext cx="5122753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61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2DBD4-1485-D2A6-0ABC-E985F41B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463040"/>
          </a:xfrm>
        </p:spPr>
        <p:txBody>
          <a:bodyPr>
            <a:normAutofit/>
          </a:bodyPr>
          <a:lstStyle/>
          <a:p>
            <a:r>
              <a:rPr lang="en-US" dirty="0"/>
              <a:t>Doctor Dashboard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EE26B-B00A-C71D-4440-5212ECE93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74018"/>
            <a:ext cx="6834632" cy="3767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Doctors see aggregate statistics like total scans, risk level breakdown and unique patients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Model usage breakdown shows how many 2D vs 3D scans have been run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Flagged scans section highlights all low-confidence predictions requiring review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Full patient management like doctors can select patients before running a scan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Previous scans history table shown date, model type, risk level and confidence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Role based access strictly enforced where patients cannot access dashboard 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831A65-D036-4467-8266-DBBD307C3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17" y="1241914"/>
            <a:ext cx="4014216" cy="2077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071420-1DEB-74A2-0267-8EB1BCA92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817" y="4269472"/>
            <a:ext cx="4014216" cy="206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9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C02F-AF73-96A3-A36A-80196089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F1674-E5E5-6435-B453-C2B7871BB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013712"/>
            <a:ext cx="11155680" cy="376732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Apple M3 MPS – 3D pooling ops not supported, so replaced MaxPool3d with strided Conv3D and trained on CPU overnight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Class imbalances with 314 Non Dementia and 30 Mild subjects where focal loss </a:t>
            </a:r>
            <a:r>
              <a:rPr lang="el-GR" dirty="0">
                <a:latin typeface="Segoe UI" panose="020B0502040204020203" pitchFamily="34" charset="0"/>
                <a:cs typeface="Segoe UI" panose="020B0502040204020203" pitchFamily="34" charset="0"/>
              </a:rPr>
              <a:t>γ=2.0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with WeightedRandomSampler to oversample minority classes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Google Collab drive mount credential failure, so bypassed cloud entirely and trained on local system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Browser blocking .nii.gz file selection, so changed to accept wildcard to detect file type by filename extension in JS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Nibabel cannot read .nii.gz from memory bytes, so wrote bytes to temp file, load it via nibabel then delete it cleanly </a:t>
            </a: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604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44FA-F05A-59B6-2C6A-E201ED45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9EB10-A258-AACD-5E58-6B887D44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9328"/>
            <a:ext cx="11155680" cy="183794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 :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EfficientNet-B3: 97.7% accuracy with Grad-CAM explanations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ResNet3D-18 : ROC-AUC 0.74, Kappa 0.40 on 414 subjects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Dual 2D and 3D platform with full clinical workflow built from scratch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F634E2-8CF5-9898-4A3D-7ACDFC6E9F7B}"/>
              </a:ext>
            </a:extLst>
          </p:cNvPr>
          <p:cNvSpPr txBox="1">
            <a:spLocks/>
          </p:cNvSpPr>
          <p:nvPr/>
        </p:nvSpPr>
        <p:spPr>
          <a:xfrm>
            <a:off x="518160" y="4041647"/>
            <a:ext cx="11155680" cy="1837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Future Work :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Medical Net pretrained 3D weights to transfer learning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ADNI dataset (2000+ subjects) for stronger 3D model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Auto-generate clinical PDF report with scan images </a:t>
            </a:r>
          </a:p>
        </p:txBody>
      </p:sp>
    </p:spTree>
    <p:extLst>
      <p:ext uri="{BB962C8B-B14F-4D97-AF65-F5344CB8AC3E}">
        <p14:creationId xmlns:p14="http://schemas.microsoft.com/office/powerpoint/2010/main" val="591932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2560</TotalTime>
  <Words>1239</Words>
  <Application>Microsoft Macintosh PowerPoint</Application>
  <PresentationFormat>Widescreen</PresentationFormat>
  <Paragraphs>122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Bierstadt</vt:lpstr>
      <vt:lpstr>Neue Haas Grotesk Text Pro</vt:lpstr>
      <vt:lpstr>Segoe UI</vt:lpstr>
      <vt:lpstr>GestaltVTI</vt:lpstr>
      <vt:lpstr>Alzheimer’s AI DUAL AI Model Platform – 2D Slice and 3D Volumetric MRI Analysis    </vt:lpstr>
      <vt:lpstr>Problem Statement</vt:lpstr>
      <vt:lpstr>Objectives </vt:lpstr>
      <vt:lpstr>System Architecture   </vt:lpstr>
      <vt:lpstr>Dataset</vt:lpstr>
      <vt:lpstr>2D Model – EfficientNet-B3 </vt:lpstr>
      <vt:lpstr>2D Model Results </vt:lpstr>
      <vt:lpstr>3D Model – ResNet3D-18</vt:lpstr>
      <vt:lpstr>3D Model Results </vt:lpstr>
      <vt:lpstr>Login &amp; Register </vt:lpstr>
      <vt:lpstr>2D Scan Analysis </vt:lpstr>
      <vt:lpstr>3D Volume Analysis </vt:lpstr>
      <vt:lpstr>Doctor Dashboard </vt:lpstr>
      <vt:lpstr>Challenges</vt:lpstr>
      <vt:lpstr>Conclusion &amp; Future Work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Rakshan Gade</dc:creator>
  <cp:lastModifiedBy>Rakshan Gade</cp:lastModifiedBy>
  <cp:revision>16</cp:revision>
  <dcterms:created xsi:type="dcterms:W3CDTF">2026-05-03T23:47:55Z</dcterms:created>
  <dcterms:modified xsi:type="dcterms:W3CDTF">2026-05-05T18:28:19Z</dcterms:modified>
</cp:coreProperties>
</file>